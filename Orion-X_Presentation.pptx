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6366F1"/>
                </a:solidFill>
                <a:latin typeface="Calibri"/>
              </a:defRPr>
            </a:pPr>
            <a:r>
              <a:t>🚀 Orion-X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Calibri"/>
              </a:defRPr>
            </a:pPr>
            <a:r>
              <a:t>The AI-Powered Learning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AB9"/>
                </a:solidFill>
                <a:latin typeface="Calibri"/>
              </a:defRPr>
            </a:pPr>
            <a:r>
              <a:t>Transforming static PDFs into dynamic, personalized</a:t>
            </a:r>
            <a:br/>
            <a:r>
              <a:t>learning experiences using Generative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FastAPI  •  React 19  •  Google Gemini  •  PostgreSQL  •  Cloudinary</a:t>
            </a:r>
          </a:p>
        </p:txBody>
      </p:sp>
      <p:pic>
        <p:nvPicPr>
          <p:cNvPr id="7" name="Picture 6" descr="orion_x_presentation_hero_1774951630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🛑 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01168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828800"/>
            <a:ext cx="7315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8BDF8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Calibri"/>
              </a:defRPr>
            </a:pPr>
            <a:r>
              <a:t>Static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9"/>
                </a:solidFill>
                <a:latin typeface="Calibri"/>
              </a:defRPr>
            </a:pPr>
            <a:r>
              <a:t>PDFs sit passively — students read, forget, repeat.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303520" cy="201168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828800"/>
            <a:ext cx="73152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4D399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Calibri"/>
              </a:defRPr>
            </a:pPr>
            <a:r>
              <a:t>One-Size-Fits-All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9"/>
                </a:solidFill>
                <a:latin typeface="Calibri"/>
              </a:defRPr>
            </a:pPr>
            <a:r>
              <a:t>Every student gets the same experience regardless of pace.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5303520" cy="201168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206240"/>
            <a:ext cx="7315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BBF24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Calibri"/>
              </a:defRPr>
            </a:pPr>
            <a:r>
              <a:t>Teacher Overload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9"/>
                </a:solidFill>
                <a:latin typeface="Calibri"/>
              </a:defRPr>
            </a:pPr>
            <a:r>
              <a:t>Manually creating quizzes and study guides is exhausting.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5303520" cy="201168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4206240"/>
            <a:ext cx="73152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366F1"/>
                </a:solidFill>
                <a:latin typeface="Calibri"/>
              </a:defRPr>
            </a:pPr>
            <a:r>
              <a:t>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5"/>
                </a:solidFill>
                <a:latin typeface="Calibri"/>
              </a:defRPr>
            </a:pPr>
            <a:r>
              <a:t>Low 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1206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9"/>
                </a:solidFill>
                <a:latin typeface="Calibri"/>
              </a:defRPr>
            </a:pPr>
            <a:r>
              <a:t>Students disengage from dense, uninteractive material.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✅  The Solution — Orion-X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2860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AB9"/>
                </a:solidFill>
                <a:latin typeface="Calibri"/>
              </a:defRPr>
            </a:pPr>
            <a:r>
              <a:t>An AI-native Learning Management System that doesn't just host content — it understands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697480" cy="365760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5486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38BDF8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Calibri"/>
              </a:defRPr>
            </a:pPr>
            <a:r>
              <a:t>Dynamic Content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AB9"/>
                </a:solidFill>
                <a:latin typeface="Calibri"/>
              </a:defRPr>
            </a:pPr>
            <a:r>
              <a:t>PDFs are parsed, indexed, and turned</a:t>
            </a:r>
            <a:br/>
            <a:r>
              <a:t>into searchable knowledge.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560320"/>
            <a:ext cx="2697480" cy="365760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2697480"/>
            <a:ext cx="5486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34D399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566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Calibri"/>
              </a:defRPr>
            </a:pPr>
            <a:r>
              <a:t>Personalized Study Paths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297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AB9"/>
                </a:solidFill>
                <a:latin typeface="Calibri"/>
              </a:defRPr>
            </a:pPr>
            <a:r>
              <a:t>AI generates custom roadmaps with</a:t>
            </a:r>
            <a:br/>
            <a:r>
              <a:t>summaries &amp; time estimates.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60320"/>
            <a:ext cx="2697480" cy="365760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697480"/>
            <a:ext cx="548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6366F1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Calibri"/>
              </a:defRPr>
            </a:pPr>
            <a:r>
              <a:t>Interactive AI Tutor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97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AB9"/>
                </a:solidFill>
                <a:latin typeface="Calibri"/>
              </a:defRPr>
            </a:pPr>
            <a:r>
              <a:t>RAG-based chatbot that answers</a:t>
            </a:r>
            <a:br/>
            <a:r>
              <a:t>questions from YOUR notes.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560320"/>
            <a:ext cx="2697480" cy="365760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60" y="2697480"/>
            <a:ext cx="54864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BBF24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566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Calibri"/>
              </a:defRPr>
            </a:pPr>
            <a:r>
              <a:t>Instant Assessments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297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AB9"/>
                </a:solidFill>
                <a:latin typeface="Calibri"/>
              </a:defRPr>
            </a:pPr>
            <a:r>
              <a:t>Generate quizzes in seconds,</a:t>
            </a:r>
            <a:br/>
            <a:r>
              <a:t>not hours.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👨‍🏫  Key Features — For Teachers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7432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219456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7315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Calibri"/>
              </a:defRPr>
            </a:pPr>
            <a:r>
              <a:t>📄  Smart Content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38BDF8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Upload PDFs directly to Cloudinary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8BDF8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Auto-extract text with PyMuPDF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8BDF8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Seamless content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219456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783080"/>
            <a:ext cx="73152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Calibri"/>
              </a:defRPr>
            </a:pPr>
            <a:r>
              <a:t>🤖  AI Quiz 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34D399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MCQ generation via Gemini 2.0 Flash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4D399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Based on actual uploaded notes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4D399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Saves hours of manual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5303520" cy="219456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7315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Calibri"/>
              </a:defRPr>
            </a:pPr>
            <a:r>
              <a:t>📹  Virtual Classrooms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Instant Jitsi Meet integration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One-click meeting launch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No external tools needed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303520" cy="219456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4251960"/>
            <a:ext cx="73152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Calibri"/>
              </a:defRPr>
            </a:pPr>
            <a:r>
              <a:t>📊  Performance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92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6366F1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Automated student scoring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366F1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Real-time progress tracking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366F1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Actionable insights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🎓  Key Features — For Students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7432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219456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7315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Calibri"/>
              </a:defRPr>
            </a:pPr>
            <a:r>
              <a:t>💬  Interactive AI Tutor (RAG)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38BDF8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Chat with AI about YOUR course materials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8BDF8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Retrieval-Augmented Generation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8BDF8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Context-aware, accurate responses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219456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783080"/>
            <a:ext cx="73152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Calibri"/>
              </a:defRPr>
            </a:pPr>
            <a:r>
              <a:t>🗺️  Personalized Study Paths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34D399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AI-generated learning roadmaps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4D399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Summaries, key terms, study estimates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4D399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Tailored to each 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5303520" cy="219456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7315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Calibri"/>
              </a:defRPr>
            </a:pPr>
            <a:r>
              <a:t>⏱️  Real-time Quizzing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Timed quizzes with instant feedback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Track your progress over time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Challenge yourself continuously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303520" cy="219456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4251960"/>
            <a:ext cx="73152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Calibri"/>
              </a:defRPr>
            </a:pPr>
            <a:r>
              <a:t>✨  Premium UI/UX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92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6366F1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Modern dark-mode design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366F1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Framer Motion animations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366F1"/>
                </a:solidFill>
                <a:latin typeface="Calibri"/>
              </a:rPr>
              <a:t>▸  </a:t>
            </a:r>
            <a:r>
              <a:rPr sz="1300">
                <a:solidFill>
                  <a:srgbClr val="A0AAB9"/>
                </a:solidFill>
                <a:latin typeface="Calibri"/>
              </a:rPr>
              <a:t>Responsive across devices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🛠️  Technical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566160" cy="210312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486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9"/>
                </a:solidFill>
                <a:latin typeface="Calibri"/>
              </a:defRPr>
            </a:pPr>
            <a:r>
              <a:t>React 19, Vite, Framer Motion</a:t>
            </a:r>
            <a:br/>
            <a:r>
              <a:t>Axios, Lucide React Icons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566160" cy="210312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783080"/>
            <a:ext cx="5486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9"/>
                </a:solidFill>
                <a:latin typeface="Calibri"/>
              </a:defRPr>
            </a:pPr>
            <a:r>
              <a:t>FastAPI (Python 3.12)</a:t>
            </a:r>
            <a:br/>
            <a:r>
              <a:t>SQLAlchemy ORM, JWT Auth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566160" cy="210312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783080"/>
            <a:ext cx="548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Calibri"/>
              </a:defRPr>
            </a:pPr>
            <a:r>
              <a:t>AI /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60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9"/>
                </a:solidFill>
                <a:latin typeface="Calibri"/>
              </a:defRPr>
            </a:pPr>
            <a:r>
              <a:t>Google Gemini Pro</a:t>
            </a:r>
            <a:br/>
            <a:r>
              <a:t>RAG Implementation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3566160" cy="210312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251960"/>
            <a:ext cx="54864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9"/>
                </a:solidFill>
                <a:latin typeface="Calibri"/>
              </a:defRPr>
            </a:pPr>
            <a:r>
              <a:t>PostgreSQL / Supabase</a:t>
            </a:r>
            <a:br/>
            <a:r>
              <a:t>Relational + Cloud-hosted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114800"/>
            <a:ext cx="3566160" cy="210312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251960"/>
            <a:ext cx="5486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480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29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9"/>
                </a:solidFill>
                <a:latin typeface="Calibri"/>
              </a:defRPr>
            </a:pPr>
            <a:r>
              <a:t>Cloudinary</a:t>
            </a:r>
            <a:br/>
            <a:r>
              <a:t>PDF &amp; Media Hosting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114800"/>
            <a:ext cx="3566160" cy="210312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4251960"/>
            <a:ext cx="5486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480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029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9"/>
                </a:solidFill>
                <a:latin typeface="Calibri"/>
              </a:defRPr>
            </a:pPr>
            <a:r>
              <a:t>Jitsi Meet Integration</a:t>
            </a:r>
            <a:br/>
            <a:r>
              <a:t>Real-time Conferencing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🧠 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2860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486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Client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9"/>
                </a:solidFill>
                <a:latin typeface="Calibri"/>
              </a:defRPr>
            </a:pPr>
            <a:r>
              <a:t>React 19 SPA</a:t>
            </a:r>
            <a:br/>
            <a:r>
              <a:t>Framer Motion, Axios</a:t>
            </a:r>
            <a:br/>
            <a:r>
              <a:t>JWT Token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828800"/>
            <a:ext cx="3474720" cy="411480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965960"/>
            <a:ext cx="5486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9260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9"/>
                </a:solidFill>
                <a:latin typeface="Calibri"/>
              </a:defRPr>
            </a:pPr>
            <a:r>
              <a:t>FastAPI Server</a:t>
            </a:r>
            <a:br/>
            <a:r>
              <a:t>Business Logic &amp; Auth</a:t>
            </a:r>
            <a:br/>
            <a:r>
              <a:t>AI Orchestration (Gemini)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828800"/>
            <a:ext cx="3474720" cy="411480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965960"/>
            <a:ext cx="54864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9260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AB9"/>
                </a:solidFill>
                <a:latin typeface="Calibri"/>
              </a:defRPr>
            </a:pPr>
            <a:r>
              <a:t>PostgreSQL / Supabase</a:t>
            </a:r>
            <a:br/>
            <a:r>
              <a:t>SQLAlchemy ORM</a:t>
            </a:r>
            <a:br/>
            <a:r>
              <a:t>Cloudinary Storage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23360" y="3474720"/>
            <a:ext cx="457200" cy="36576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680960" y="3474720"/>
            <a:ext cx="457200" cy="36576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💬  AI Tutor — RAG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2860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AB9"/>
                </a:solidFill>
                <a:latin typeface="Calibri"/>
              </a:defRPr>
            </a:pPr>
            <a:r>
              <a:t>The AI Tutor uses Retrieval-Augmented Generation to provide</a:t>
            </a:r>
            <a:br/>
            <a:r>
              <a:t>accurate, context-aware answers from your exact course PDFs.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8BDF8"/>
                </a:solidFill>
                <a:latin typeface="Calibri"/>
              </a:rPr>
              <a:t>▸  </a:t>
            </a:r>
            <a:r>
              <a:rPr sz="1500">
                <a:solidFill>
                  <a:srgbClr val="F0F0F5"/>
                </a:solidFill>
                <a:latin typeface="Calibri"/>
              </a:rPr>
              <a:t>Student uploads question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8BDF8"/>
                </a:solidFill>
                <a:latin typeface="Calibri"/>
              </a:rPr>
              <a:t>▸  </a:t>
            </a:r>
            <a:r>
              <a:rPr sz="1500">
                <a:solidFill>
                  <a:srgbClr val="F0F0F5"/>
                </a:solidFill>
                <a:latin typeface="Calibri"/>
              </a:rPr>
              <a:t>System retrieves relevant PDF chunks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8BDF8"/>
                </a:solidFill>
                <a:latin typeface="Calibri"/>
              </a:rPr>
              <a:t>▸  </a:t>
            </a:r>
            <a:r>
              <a:rPr sz="1500">
                <a:solidFill>
                  <a:srgbClr val="F0F0F5"/>
                </a:solidFill>
                <a:latin typeface="Calibri"/>
              </a:rPr>
              <a:t>Gemini generates contextual answer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8BDF8"/>
                </a:solidFill>
                <a:latin typeface="Calibri"/>
              </a:rPr>
              <a:t>▸  </a:t>
            </a:r>
            <a:r>
              <a:rPr sz="1500">
                <a:solidFill>
                  <a:srgbClr val="F0F0F5"/>
                </a:solidFill>
                <a:latin typeface="Calibri"/>
              </a:rPr>
              <a:t>Response cites source material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8BDF8"/>
                </a:solidFill>
                <a:latin typeface="Calibri"/>
              </a:rPr>
              <a:t>▸  </a:t>
            </a:r>
            <a:r>
              <a:rPr sz="1500">
                <a:solidFill>
                  <a:srgbClr val="F0F0F5"/>
                </a:solidFill>
                <a:latin typeface="Calibri"/>
              </a:rPr>
              <a:t>Supports follow-up conversations</a:t>
            </a:r>
          </a:p>
        </p:txBody>
      </p:sp>
      <p:pic>
        <p:nvPicPr>
          <p:cNvPr id="7" name="Picture 6" descr="orion_x_ai_tutor_mockup_17749517713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366F1"/>
                </a:solidFill>
                <a:latin typeface="Calibri"/>
              </a:defRPr>
            </a:pPr>
            <a:r>
              <a:t>🚀 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F0F5"/>
                </a:solidFill>
                <a:latin typeface="Calibri"/>
              </a:defRPr>
            </a:pPr>
            <a:r>
              <a:t>Orion-X: The AI-Powered Learning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AB9"/>
                </a:solidFill>
                <a:latin typeface="Calibri"/>
              </a:defRPr>
            </a:pPr>
            <a:r>
              <a:t>"The transition from hosting information to providing intelligence."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4754880"/>
            <a:ext cx="3931920" cy="1097280"/>
          </a:xfrm>
          <a:prstGeom prst="round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484632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